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embeddedFontLst>
    <p:embeddedFont>
      <p:font typeface="Poppins SemiBold" panose="020B0604020202020204" charset="0"/>
      <p:regular r:id="rId37"/>
      <p:bold r:id="rId38"/>
      <p:italic r:id="rId39"/>
      <p:boldItalic r:id="rId40"/>
    </p:embeddedFont>
    <p:embeddedFont>
      <p:font typeface="Poppins" panose="020B0604020202020204" charset="0"/>
      <p:regular r:id="rId41"/>
      <p:bold r:id="rId42"/>
      <p:italic r:id="rId43"/>
      <p:boldItalic r:id="rId44"/>
    </p:embeddedFont>
    <p:embeddedFont>
      <p:font typeface="Lato" panose="020B0604020202020204" charset="0"/>
      <p:regular r:id="rId45"/>
      <p:bold r:id="rId46"/>
      <p:italic r:id="rId47"/>
      <p:boldItalic r:id="rId48"/>
    </p:embeddedFont>
    <p:embeddedFont>
      <p:font typeface="Lato Light" panose="020F0302020204030203" charset="0"/>
      <p:regular r:id="rId49"/>
      <p:bold r:id="rId50"/>
      <p:italic r:id="rId51"/>
      <p:boldItalic r:id="rId52"/>
    </p:embeddedFont>
    <p:embeddedFont>
      <p:font typeface="Calibri" panose="020F050202020403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88"/>
    <a:srgbClr val="0A9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E4F46C-73E3-4ECB-84D9-A1C0BEC3C86D}">
  <a:tblStyle styleId="{62E4F46C-73E3-4ECB-84D9-A1C0BEC3C8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50525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721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3835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9937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6673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47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5261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92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226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8817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032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9623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070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2400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7964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5302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519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9991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7772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0361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5791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1291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303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015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31895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406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7054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69902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93350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06185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1545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39650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4688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54684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128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2.png"/><Relationship Id="rId9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2.png"/><Relationship Id="rId9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6505575"/>
            <a:ext cx="194545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FST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Tanger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- 2025/2026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400"/>
            <a:ext cx="214669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83341" y="436215"/>
            <a:ext cx="2037159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39525" y="566783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PROJET DE FIN DE MODULE</a:t>
            </a:r>
            <a:endParaRPr sz="240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95275" y="1257300"/>
            <a:ext cx="1160145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Conception &amp; </a:t>
            </a:r>
            <a:r>
              <a:rPr lang="en-US" sz="40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Déploiement</a:t>
            </a:r>
            <a:r>
              <a:rPr lang="en-US" sz="40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d’une</a:t>
            </a:r>
            <a:r>
              <a:rPr lang="en-US" sz="40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Infrastructure </a:t>
            </a:r>
            <a:r>
              <a:rPr lang="en-US" sz="40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Décisionnelle</a:t>
            </a:r>
            <a:endParaRPr sz="400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809750" y="2435059"/>
            <a:ext cx="8572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Pipeline ETL Python, Data Warehouse MySQL &amp; Tableaux de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Bord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 Power BI : Application à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AdventureWorks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 Cycles</a:t>
            </a:r>
            <a:endParaRPr sz="18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5999069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Master Intelligence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Artificielle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Science des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Données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(IASD)</a:t>
            </a:r>
            <a:endParaRPr dirty="0"/>
          </a:p>
        </p:txBody>
      </p:sp>
      <p:pic>
        <p:nvPicPr>
          <p:cNvPr id="13" name="Google Shape;86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1" y="3544478"/>
            <a:ext cx="8572500" cy="23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93;p13"/>
          <p:cNvSpPr txBox="1"/>
          <p:nvPr/>
        </p:nvSpPr>
        <p:spPr>
          <a:xfrm>
            <a:off x="2017042" y="3740036"/>
            <a:ext cx="34966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RÉALISÉ PAR</a:t>
            </a:r>
            <a:endParaRPr dirty="0"/>
          </a:p>
        </p:txBody>
      </p:sp>
      <p:sp>
        <p:nvSpPr>
          <p:cNvPr id="15" name="Google Shape;94;p13"/>
          <p:cNvSpPr txBox="1"/>
          <p:nvPr/>
        </p:nvSpPr>
        <p:spPr>
          <a:xfrm>
            <a:off x="2030528" y="4090684"/>
            <a:ext cx="3330119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BENALI </a:t>
            </a:r>
            <a:r>
              <a:rPr lang="en-US" b="1" i="0" u="none" strike="noStrike" cap="none" dirty="0" err="1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Marouan</a:t>
            </a:r>
            <a:endParaRPr lang="en-US" b="1" i="0" u="none" strike="noStrike" cap="none" dirty="0" smtClean="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KHATAB </a:t>
            </a:r>
            <a:r>
              <a:rPr lang="en-US" b="1" i="0" u="none" strike="noStrike" cap="none" dirty="0" err="1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Souhaib</a:t>
            </a: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i="0" u="none" strike="noStrike" cap="none" dirty="0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AIT </a:t>
            </a:r>
            <a:r>
              <a:rPr lang="en-US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AHMED OABD </a:t>
            </a:r>
            <a:r>
              <a:rPr lang="en-US" b="1" i="0" u="none" strike="noStrike" cap="none" dirty="0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Mariam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DIAZ </a:t>
            </a:r>
            <a:r>
              <a:rPr lang="en-US" b="1" dirty="0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Khadija</a:t>
            </a:r>
            <a: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i="0" u="none" strike="noStrike" cap="none" dirty="0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BEKKALI </a:t>
            </a:r>
            <a:r>
              <a:rPr lang="en-US" b="1" i="0" u="none" strike="noStrike" cap="none" dirty="0" err="1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Khaoula</a:t>
            </a:r>
            <a:endParaRPr lang="en-US" b="1" i="0" u="none" strike="noStrike" cap="none" dirty="0" smtClean="0">
              <a:solidFill>
                <a:srgbClr val="0F172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95;p13"/>
          <p:cNvSpPr txBox="1"/>
          <p:nvPr/>
        </p:nvSpPr>
        <p:spPr>
          <a:xfrm>
            <a:off x="4527794" y="3735311"/>
            <a:ext cx="34966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SOUS LA DIRECTION DE</a:t>
            </a:r>
            <a:endParaRPr dirty="0"/>
          </a:p>
        </p:txBody>
      </p:sp>
      <p:sp>
        <p:nvSpPr>
          <p:cNvPr id="17" name="Google Shape;96;p13"/>
          <p:cNvSpPr txBox="1"/>
          <p:nvPr/>
        </p:nvSpPr>
        <p:spPr>
          <a:xfrm>
            <a:off x="4527794" y="3996733"/>
            <a:ext cx="333011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Mme</a:t>
            </a:r>
            <a:r>
              <a:rPr lang="en-US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CHRIT Salma</a:t>
            </a:r>
            <a:endParaRPr b="1" dirty="0"/>
          </a:p>
        </p:txBody>
      </p:sp>
      <p:sp>
        <p:nvSpPr>
          <p:cNvPr id="18" name="Google Shape;97;p13"/>
          <p:cNvSpPr txBox="1"/>
          <p:nvPr/>
        </p:nvSpPr>
        <p:spPr>
          <a:xfrm>
            <a:off x="7568920" y="3743650"/>
            <a:ext cx="34967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TECHNOLOGIES CLÉS</a:t>
            </a:r>
            <a:endParaRPr dirty="0"/>
          </a:p>
        </p:txBody>
      </p:sp>
      <p:sp>
        <p:nvSpPr>
          <p:cNvPr id="19" name="Google Shape;98;p13"/>
          <p:cNvSpPr txBox="1"/>
          <p:nvPr/>
        </p:nvSpPr>
        <p:spPr>
          <a:xfrm>
            <a:off x="7568920" y="3976089"/>
            <a:ext cx="333026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Python | MySQL | Power BI | DAX</a:t>
            </a:r>
            <a:endParaRPr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794" y="4545266"/>
            <a:ext cx="1887141" cy="1118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1767219"/>
            <a:ext cx="2547937" cy="3686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43287" y="1767219"/>
            <a:ext cx="2547937" cy="3686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6974" y="1767219"/>
            <a:ext cx="2547937" cy="3686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10662" y="1767219"/>
            <a:ext cx="2547937" cy="3686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6505575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Agenda du Projet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349" y="2031344"/>
            <a:ext cx="255113" cy="566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29036" y="2031344"/>
            <a:ext cx="318891" cy="566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62724" y="2031344"/>
            <a:ext cx="318891" cy="566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96412" y="2031344"/>
            <a:ext cx="382670" cy="5667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90576" y="496725"/>
            <a:ext cx="54483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 DE PRÉSENTATION</a:t>
            </a:r>
            <a:endParaRPr dirty="0"/>
          </a:p>
        </p:txBody>
      </p:sp>
      <p:sp>
        <p:nvSpPr>
          <p:cNvPr id="113" name="Google Shape;113;p14"/>
          <p:cNvSpPr/>
          <p:nvPr/>
        </p:nvSpPr>
        <p:spPr>
          <a:xfrm>
            <a:off x="571500" y="452437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05893" y="2820666"/>
            <a:ext cx="235164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Cadrage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Général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828676" y="3308213"/>
            <a:ext cx="19764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Contexte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problématique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objectifs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stratégiques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3639580" y="2820666"/>
            <a:ext cx="235164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Architecture DWH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662363" y="3308213"/>
            <a:ext cx="19764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Modélisation conceptuelle et dimensionnelle de l'entrepôt.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73268" y="2820666"/>
            <a:ext cx="235164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Ingénierie ETL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78265" y="3308213"/>
            <a:ext cx="160476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Réalisation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 pipeline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robuste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avec Python et Pandas.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9306955" y="2820666"/>
            <a:ext cx="235164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Visualisation BI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639040" y="3287102"/>
            <a:ext cx="149117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visuelle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indicateurs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avancés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sous Power BI.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338137" y="2261615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PARTIE I</a:t>
            </a:r>
            <a:endParaRPr sz="2400"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295275" y="2966846"/>
            <a:ext cx="116014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Cadre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Général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Contexte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338137" y="37406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Fondations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besoins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décisionnels</a:t>
            </a:r>
            <a:endParaRPr dirty="0"/>
          </a:p>
        </p:txBody>
      </p:sp>
      <p:sp>
        <p:nvSpPr>
          <p:cNvPr id="135" name="Google Shape;135;p15"/>
          <p:cNvSpPr/>
          <p:nvPr/>
        </p:nvSpPr>
        <p:spPr>
          <a:xfrm>
            <a:off x="2657721" y="3691167"/>
            <a:ext cx="6259005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1952625"/>
            <a:ext cx="5381625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2219" y="1952625"/>
            <a:ext cx="5381625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6505575"/>
            <a:ext cx="1190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Contexte Entreprise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0594" y="23241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07969" y="23241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PRÉSENTATION DE L'ORGANISME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496085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675885" y="2462212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AdventureWorks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Cycles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1319754" y="2970621"/>
            <a:ext cx="385556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Multinationale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spécialisée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dans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fabrication et distribution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vélos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équipements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sportifs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haute performance.</a:t>
            </a:r>
            <a:endParaRPr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7223264" y="2409825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Marché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Mondial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7179469" y="2970621"/>
            <a:ext cx="366322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Présence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stratégique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Amérique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 Nord, Europe et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Australie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avec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modèle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hybride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B2B et B2C.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66408" y="2136104"/>
            <a:ext cx="4298623" cy="2909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65055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Challenges BI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6193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171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771899"/>
            <a:ext cx="237292" cy="25538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 DE LA PROBLÉMATIQUE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2185988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Silos de </a:t>
            </a: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Données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7312820" y="2347912"/>
            <a:ext cx="495061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BE123C"/>
                </a:solidFill>
                <a:latin typeface="Poppins"/>
                <a:ea typeface="Poppins"/>
                <a:cs typeface="Poppins"/>
                <a:sym typeface="Poppins"/>
              </a:rPr>
              <a:t>Impact Critique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312820" y="2909887"/>
            <a:ext cx="395221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L'absence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vision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consolidée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empêche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direction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réagir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rapidement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aux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tendances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marché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aux anomalies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logistiques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1000125" y="2571750"/>
            <a:ext cx="60888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Fragmentation: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Données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dispersées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dans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fichiers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CSV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autonomes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1000125" y="31242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Hétérogénéité: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Encodages et délimiteurs non standards.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00125" y="3724274"/>
            <a:ext cx="50424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Lourdeur: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Analyses manuelles sous Excel lentes et risquées.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13028"/>
            <a:ext cx="3492549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2113028"/>
            <a:ext cx="3492549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2113028"/>
            <a:ext cx="3492549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6505575"/>
            <a:ext cx="9620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Vision du Projet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248450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35549" y="248450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13849" y="248450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OBJECTIFS STRATÉGIQUES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57250" y="3170303"/>
            <a:ext cx="30671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Centralisation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57250" y="3732278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Unification des sources dans un Data Warehouse MySQL structuré en étoile.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635549" y="3170303"/>
            <a:ext cx="30671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Automatisation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4635549" y="3732278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Pipeline ETL "Code-First" robuste remplaçant les outils graphiques lourds.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413849" y="3170303"/>
            <a:ext cx="30671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Pilotage BI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413849" y="3732278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Tableaux de bord interactifs pour une aide à la décision en temps réel.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647700" y="6505575"/>
            <a:ext cx="13239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Méthodologie Kimball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47700" y="2935938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1638300" y="28216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584650" y="28216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531000" y="28216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0477351" y="282163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CADRE MÉTHODOLOGIQUE CIBLE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571351" y="1704975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Cycle de Vie de Kimball (</a:t>
            </a:r>
            <a:r>
              <a:rPr lang="en-US" sz="18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Dimensionnel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800" dirty="0"/>
          </a:p>
        </p:txBody>
      </p:sp>
      <p:sp>
        <p:nvSpPr>
          <p:cNvPr id="2" name="Ellipse 1"/>
          <p:cNvSpPr/>
          <p:nvPr/>
        </p:nvSpPr>
        <p:spPr>
          <a:xfrm>
            <a:off x="599163" y="3144055"/>
            <a:ext cx="2450969" cy="1498862"/>
          </a:xfrm>
          <a:prstGeom prst="ellipse">
            <a:avLst/>
          </a:prstGeom>
          <a:gradFill flip="none" rotWithShape="1">
            <a:gsLst>
              <a:gs pos="0">
                <a:srgbClr val="0A9496">
                  <a:tint val="66000"/>
                  <a:satMod val="160000"/>
                </a:srgbClr>
              </a:gs>
              <a:gs pos="50000">
                <a:srgbClr val="0A9496">
                  <a:tint val="44500"/>
                  <a:satMod val="160000"/>
                </a:srgbClr>
              </a:gs>
              <a:gs pos="100000">
                <a:srgbClr val="0A9496">
                  <a:tint val="23500"/>
                  <a:satMod val="160000"/>
                </a:srgbClr>
              </a:gs>
            </a:gsLst>
            <a:lin ang="54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Google Shape;216;p19"/>
          <p:cNvSpPr txBox="1"/>
          <p:nvPr/>
        </p:nvSpPr>
        <p:spPr>
          <a:xfrm>
            <a:off x="1157527" y="3389158"/>
            <a:ext cx="131773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Analyse</a:t>
            </a:r>
            <a:endParaRPr dirty="0"/>
          </a:p>
        </p:txBody>
      </p:sp>
      <p:sp>
        <p:nvSpPr>
          <p:cNvPr id="25" name="Google Shape;217;p19"/>
          <p:cNvSpPr txBox="1"/>
          <p:nvPr/>
        </p:nvSpPr>
        <p:spPr>
          <a:xfrm>
            <a:off x="762000" y="3697863"/>
            <a:ext cx="2209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Audit des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besoins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profilage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sources.</a:t>
            </a:r>
            <a:endParaRPr dirty="0">
              <a:solidFill>
                <a:srgbClr val="005088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9392021" y="3122728"/>
            <a:ext cx="2450969" cy="1498862"/>
          </a:xfrm>
          <a:prstGeom prst="ellipse">
            <a:avLst/>
          </a:prstGeom>
          <a:gradFill flip="none" rotWithShape="1">
            <a:gsLst>
              <a:gs pos="0">
                <a:srgbClr val="0A9496">
                  <a:tint val="66000"/>
                  <a:satMod val="160000"/>
                </a:srgbClr>
              </a:gs>
              <a:gs pos="50000">
                <a:srgbClr val="0A9496">
                  <a:tint val="44500"/>
                  <a:satMod val="160000"/>
                </a:srgbClr>
              </a:gs>
              <a:gs pos="100000">
                <a:srgbClr val="0A9496">
                  <a:tint val="23500"/>
                  <a:satMod val="160000"/>
                </a:srgbClr>
              </a:gs>
            </a:gsLst>
            <a:lin ang="54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/>
          <p:cNvSpPr/>
          <p:nvPr/>
        </p:nvSpPr>
        <p:spPr>
          <a:xfrm>
            <a:off x="6419815" y="3139793"/>
            <a:ext cx="2450969" cy="1498862"/>
          </a:xfrm>
          <a:prstGeom prst="ellipse">
            <a:avLst/>
          </a:prstGeom>
          <a:gradFill flip="none" rotWithShape="1">
            <a:gsLst>
              <a:gs pos="0">
                <a:srgbClr val="0A9496">
                  <a:tint val="66000"/>
                  <a:satMod val="160000"/>
                </a:srgbClr>
              </a:gs>
              <a:gs pos="50000">
                <a:srgbClr val="0A9496">
                  <a:tint val="44500"/>
                  <a:satMod val="160000"/>
                </a:srgbClr>
              </a:gs>
              <a:gs pos="100000">
                <a:srgbClr val="0A9496">
                  <a:tint val="23500"/>
                  <a:satMod val="160000"/>
                </a:srgbClr>
              </a:gs>
            </a:gsLst>
            <a:lin ang="54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/>
          <p:cNvSpPr/>
          <p:nvPr/>
        </p:nvSpPr>
        <p:spPr>
          <a:xfrm>
            <a:off x="3467181" y="3152579"/>
            <a:ext cx="2450969" cy="1498862"/>
          </a:xfrm>
          <a:prstGeom prst="ellipse">
            <a:avLst/>
          </a:prstGeom>
          <a:gradFill flip="none" rotWithShape="1">
            <a:gsLst>
              <a:gs pos="0">
                <a:srgbClr val="0A9496">
                  <a:tint val="66000"/>
                  <a:satMod val="160000"/>
                </a:srgbClr>
              </a:gs>
              <a:gs pos="50000">
                <a:srgbClr val="0A9496">
                  <a:tint val="44500"/>
                  <a:satMod val="160000"/>
                </a:srgbClr>
              </a:gs>
              <a:gs pos="100000">
                <a:srgbClr val="0A9496">
                  <a:tint val="23500"/>
                  <a:satMod val="160000"/>
                </a:srgbClr>
              </a:gs>
            </a:gsLst>
            <a:lin ang="54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Google Shape;218;p19"/>
          <p:cNvSpPr txBox="1"/>
          <p:nvPr/>
        </p:nvSpPr>
        <p:spPr>
          <a:xfrm>
            <a:off x="4159122" y="3389157"/>
            <a:ext cx="1308256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Modélisation</a:t>
            </a:r>
            <a:endParaRPr dirty="0"/>
          </a:p>
        </p:txBody>
      </p:sp>
      <p:sp>
        <p:nvSpPr>
          <p:cNvPr id="31" name="Google Shape;219;p19"/>
          <p:cNvSpPr txBox="1"/>
          <p:nvPr/>
        </p:nvSpPr>
        <p:spPr>
          <a:xfrm>
            <a:off x="3824281" y="3726259"/>
            <a:ext cx="19703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Conception du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schéma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étoile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rgbClr val="005088"/>
              </a:solidFill>
            </a:endParaRPr>
          </a:p>
        </p:txBody>
      </p:sp>
      <p:sp>
        <p:nvSpPr>
          <p:cNvPr id="32" name="Google Shape;220;p19"/>
          <p:cNvSpPr txBox="1"/>
          <p:nvPr/>
        </p:nvSpPr>
        <p:spPr>
          <a:xfrm>
            <a:off x="7038683" y="3348249"/>
            <a:ext cx="1308256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ETL</a:t>
            </a:r>
            <a:endParaRPr dirty="0"/>
          </a:p>
        </p:txBody>
      </p:sp>
      <p:sp>
        <p:nvSpPr>
          <p:cNvPr id="33" name="Google Shape;221;p19"/>
          <p:cNvSpPr txBox="1"/>
          <p:nvPr/>
        </p:nvSpPr>
        <p:spPr>
          <a:xfrm>
            <a:off x="6594408" y="3687626"/>
            <a:ext cx="2209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Ingénierie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des flux de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données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Python.</a:t>
            </a:r>
            <a:endParaRPr dirty="0">
              <a:solidFill>
                <a:srgbClr val="005088"/>
              </a:solidFill>
            </a:endParaRPr>
          </a:p>
        </p:txBody>
      </p:sp>
      <p:sp>
        <p:nvSpPr>
          <p:cNvPr id="34" name="Google Shape;222;p19"/>
          <p:cNvSpPr txBox="1"/>
          <p:nvPr/>
        </p:nvSpPr>
        <p:spPr>
          <a:xfrm>
            <a:off x="9937523" y="3273285"/>
            <a:ext cx="1308256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BI</a:t>
            </a:r>
            <a:endParaRPr dirty="0"/>
          </a:p>
        </p:txBody>
      </p:sp>
      <p:sp>
        <p:nvSpPr>
          <p:cNvPr id="35" name="Google Shape;223;p19"/>
          <p:cNvSpPr txBox="1"/>
          <p:nvPr/>
        </p:nvSpPr>
        <p:spPr>
          <a:xfrm>
            <a:off x="9512605" y="3683528"/>
            <a:ext cx="2209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Restitution </a:t>
            </a:r>
            <a:r>
              <a:rPr lang="en-US" sz="1500" b="0" i="0" u="none" strike="noStrike" cap="none" dirty="0" err="1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visuelle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 Power BI.</a:t>
            </a:r>
            <a:endParaRPr dirty="0">
              <a:solidFill>
                <a:srgbClr val="00508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571500" y="6505575"/>
            <a:ext cx="1095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Gantt prévisionnel</a:t>
            </a:r>
            <a:endParaRPr/>
          </a:p>
        </p:txBody>
      </p:sp>
      <p:graphicFrame>
        <p:nvGraphicFramePr>
          <p:cNvPr id="233" name="Google Shape;233;p20"/>
          <p:cNvGraphicFramePr/>
          <p:nvPr>
            <p:extLst>
              <p:ext uri="{D42A27DB-BD31-4B8C-83A1-F6EECF244321}">
                <p14:modId xmlns:p14="http://schemas.microsoft.com/office/powerpoint/2010/main" val="4031985937"/>
              </p:ext>
            </p:extLst>
          </p:nvPr>
        </p:nvGraphicFramePr>
        <p:xfrm>
          <a:off x="571500" y="1704975"/>
          <a:ext cx="11049000" cy="2990875"/>
        </p:xfrm>
        <a:graphic>
          <a:graphicData uri="http://schemas.openxmlformats.org/drawingml/2006/table">
            <a:tbl>
              <a:tblPr firstRow="1" bandRow="1">
                <a:noFill/>
                <a:tableStyleId>{62E4F46C-73E3-4ECB-84D9-A1C0BEC3C86D}</a:tableStyleId>
              </a:tblPr>
              <a:tblGrid>
                <a:gridCol w="2900500"/>
                <a:gridCol w="1686225"/>
                <a:gridCol w="6462275"/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Semaines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Livrables Clés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Analyse &amp; Cadrage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Matrice des indicateurs, Profilage validé.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Conception DWH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S2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</a:t>
                      </a: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schema.sql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Modèle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étoile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Développement ETL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S3-S4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Pipeline Python fonctionnel, Données migrées.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Visualisation BI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S5 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 </a:t>
                      </a:r>
                      <a:r>
                        <a:rPr lang="en-US" sz="1500" b="0" i="0" u="none" strike="noStrike" cap="none" dirty="0" smtClean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Dashboards interactifs (Ventes, Retours, Clients).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PLANIFICATION DU PROJET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71500" y="2881313"/>
            <a:ext cx="2900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472011" y="2881313"/>
            <a:ext cx="1686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5158233" y="2881313"/>
            <a:ext cx="646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71500" y="3481388"/>
            <a:ext cx="2900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472011" y="3481388"/>
            <a:ext cx="1686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158233" y="3481388"/>
            <a:ext cx="646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71500" y="4081463"/>
            <a:ext cx="2900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472011" y="4081463"/>
            <a:ext cx="1686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158233" y="4081463"/>
            <a:ext cx="646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71500" y="4681538"/>
            <a:ext cx="2900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472011" y="4681538"/>
            <a:ext cx="1686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158233" y="4681538"/>
            <a:ext cx="646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71500" y="2096928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PARTIE II</a:t>
            </a:r>
            <a:endParaRPr sz="2000" dirty="0"/>
          </a:p>
        </p:txBody>
      </p:sp>
      <p:sp>
        <p:nvSpPr>
          <p:cNvPr id="259" name="Google Shape;259;p21"/>
          <p:cNvSpPr txBox="1"/>
          <p:nvPr/>
        </p:nvSpPr>
        <p:spPr>
          <a:xfrm>
            <a:off x="295275" y="2811303"/>
            <a:ext cx="116014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Conception et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Modélisation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du DWH</a:t>
            </a:r>
            <a:endParaRPr dirty="0"/>
          </a:p>
        </p:txBody>
      </p:sp>
      <p:sp>
        <p:nvSpPr>
          <p:cNvPr id="260" name="Google Shape;260;p21"/>
          <p:cNvSpPr txBox="1"/>
          <p:nvPr/>
        </p:nvSpPr>
        <p:spPr>
          <a:xfrm>
            <a:off x="709613" y="366855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Architecturer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cœur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système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décisionnel</a:t>
            </a:r>
            <a:endParaRPr dirty="0"/>
          </a:p>
        </p:txBody>
      </p:sp>
      <p:sp>
        <p:nvSpPr>
          <p:cNvPr id="261" name="Google Shape;261;p21"/>
          <p:cNvSpPr/>
          <p:nvPr/>
        </p:nvSpPr>
        <p:spPr>
          <a:xfrm>
            <a:off x="2074290" y="3578765"/>
            <a:ext cx="7842708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71500" y="6505575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Architecture de bout en bout</a:t>
            </a:r>
            <a:endParaRPr/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00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956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4909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9862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BI GLOBALE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71500" y="202406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Zones de Traitement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000125" y="24526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Zone 1: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Sources Opérationnelles (CSVs).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00125" y="29479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Zone 2: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Pipeline ETL (Python Pandas).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000125" y="34432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Zone 3: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Entrepôt MySQL (Star Schema).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000125" y="39385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Zone 4: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Restitution Sémantique (Power BI).</a:t>
            </a:r>
            <a:endParaRPr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636" y="1489205"/>
            <a:ext cx="7164965" cy="3908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571500" y="6505575"/>
            <a:ext cx="828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 Profiling</a:t>
            </a:r>
            <a:endParaRPr/>
          </a:p>
        </p:txBody>
      </p:sp>
      <p:graphicFrame>
        <p:nvGraphicFramePr>
          <p:cNvPr id="293" name="Google Shape;293;p23"/>
          <p:cNvGraphicFramePr/>
          <p:nvPr>
            <p:extLst>
              <p:ext uri="{D42A27DB-BD31-4B8C-83A1-F6EECF244321}">
                <p14:modId xmlns:p14="http://schemas.microsoft.com/office/powerpoint/2010/main" val="1989004780"/>
              </p:ext>
            </p:extLst>
          </p:nvPr>
        </p:nvGraphicFramePr>
        <p:xfrm>
          <a:off x="571500" y="1862100"/>
          <a:ext cx="11048975" cy="2990875"/>
        </p:xfrm>
        <a:graphic>
          <a:graphicData uri="http://schemas.openxmlformats.org/drawingml/2006/table">
            <a:tbl>
              <a:tblPr firstRow="1" bandRow="1">
                <a:noFill/>
                <a:tableStyleId>{62E4F46C-73E3-4ECB-84D9-A1C0BEC3C86D}</a:tableStyleId>
              </a:tblPr>
              <a:tblGrid>
                <a:gridCol w="2580975"/>
                <a:gridCol w="1690975"/>
                <a:gridCol w="1627425"/>
                <a:gridCol w="5149600"/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Source 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Encodage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Anomalie Identifiée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Sales_2015/16/17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UTF-8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Fragmentation annuelle (Pd.concat requis).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UTF-8-sig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Symboles monétaires dans AnnualIncome.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Territories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Latin-1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Délimiteur non standard (Point-virgule).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Dimension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UTF-8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Hiérarchie implicite à dénormaliser.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PROFILAGE DES DONNÉES SOURCES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571500" y="3038438"/>
            <a:ext cx="25809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152477" y="3038438"/>
            <a:ext cx="16909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4843462" y="3038438"/>
            <a:ext cx="1627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470898" y="3038438"/>
            <a:ext cx="5149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571500" y="3638513"/>
            <a:ext cx="25809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3152477" y="3638513"/>
            <a:ext cx="16909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843462" y="3638513"/>
            <a:ext cx="1627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470898" y="3638513"/>
            <a:ext cx="5149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571500" y="4238588"/>
            <a:ext cx="25809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3152477" y="4238588"/>
            <a:ext cx="16909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4843462" y="4238588"/>
            <a:ext cx="1627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6470898" y="4238588"/>
            <a:ext cx="5149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571500" y="4838663"/>
            <a:ext cx="25809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3152477" y="4838663"/>
            <a:ext cx="16909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843462" y="4838663"/>
            <a:ext cx="1627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470898" y="4838663"/>
            <a:ext cx="5149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671" y="6291015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69052"/>
            <a:ext cx="5381625" cy="22434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9" name="Google Shape;31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469051"/>
            <a:ext cx="5381625" cy="2228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0" name="Google Shape;32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420671" y="6395790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Concept Star Schema</a:t>
            </a:r>
            <a:endParaRPr/>
          </a:p>
        </p:txBody>
      </p:sp>
      <p:pic>
        <p:nvPicPr>
          <p:cNvPr id="323" name="Google Shape;32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2250101"/>
            <a:ext cx="200025" cy="237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2745401"/>
            <a:ext cx="257175" cy="237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3240701"/>
            <a:ext cx="200025" cy="23732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MODÉLISATION CONCEPTUELLE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857250" y="1690157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Le Modèle en Étoile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524625" y="1690157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Stratégie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DWH</a:t>
            </a:r>
            <a:endParaRPr dirty="0"/>
          </a:p>
        </p:txBody>
      </p:sp>
      <p:sp>
        <p:nvSpPr>
          <p:cNvPr id="330" name="Google Shape;330;p24"/>
          <p:cNvSpPr txBox="1"/>
          <p:nvPr/>
        </p:nvSpPr>
        <p:spPr>
          <a:xfrm>
            <a:off x="6524625" y="2240576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Dénormalisation contrôlée des dimensions (Produits, Clients) pour centraliser l'analyse autour de deux tables de faits clés :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Ventes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Retours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1285875" y="2202476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Performance: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Réduction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drastique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 jointures.</a:t>
            </a:r>
            <a:endParaRPr dirty="0"/>
          </a:p>
        </p:txBody>
      </p:sp>
      <p:sp>
        <p:nvSpPr>
          <p:cNvPr id="332" name="Google Shape;332;p24"/>
          <p:cNvSpPr txBox="1"/>
          <p:nvPr/>
        </p:nvSpPr>
        <p:spPr>
          <a:xfrm>
            <a:off x="1285875" y="2697776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Lisibilité: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Structure intuitive pour l'analyse.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1285875" y="3193076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Optimisation: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Idéal pour le moteur Power BI.</a:t>
            </a:r>
            <a:endParaRPr/>
          </a:p>
        </p:txBody>
      </p:sp>
      <p:pic>
        <p:nvPicPr>
          <p:cNvPr id="33" name="Google Shape;343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9554" y="501460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4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9554" y="537951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0;p25"/>
          <p:cNvSpPr txBox="1"/>
          <p:nvPr/>
        </p:nvSpPr>
        <p:spPr>
          <a:xfrm>
            <a:off x="706421" y="463876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Tables de Faits (Faits)</a:t>
            </a:r>
            <a:endParaRPr/>
          </a:p>
        </p:txBody>
      </p:sp>
      <p:sp>
        <p:nvSpPr>
          <p:cNvPr id="36" name="Google Shape;352;p25"/>
          <p:cNvSpPr txBox="1"/>
          <p:nvPr/>
        </p:nvSpPr>
        <p:spPr>
          <a:xfrm>
            <a:off x="1378178" y="4966981"/>
            <a:ext cx="56984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aw_sales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Granularité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atomique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à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ligne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commande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7" name="Google Shape;353;p25"/>
          <p:cNvSpPr txBox="1"/>
          <p:nvPr/>
        </p:nvSpPr>
        <p:spPr>
          <a:xfrm>
            <a:off x="1378178" y="5331886"/>
            <a:ext cx="56984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aw_returns: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Performance logistique agrégée par jour.</a:t>
            </a:r>
            <a:endParaRPr/>
          </a:p>
        </p:txBody>
      </p:sp>
      <p:sp>
        <p:nvSpPr>
          <p:cNvPr id="38" name="Google Shape;348;p25"/>
          <p:cNvSpPr txBox="1"/>
          <p:nvPr/>
        </p:nvSpPr>
        <p:spPr>
          <a:xfrm>
            <a:off x="647700" y="4087673"/>
            <a:ext cx="114014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TABLES DE FAITS &amp; DIMENSIONS</a:t>
            </a:r>
            <a:endParaRPr sz="2000" dirty="0"/>
          </a:p>
        </p:txBody>
      </p:sp>
      <p:pic>
        <p:nvPicPr>
          <p:cNvPr id="40" name="Google Shape;345;p2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83540" y="5013878"/>
            <a:ext cx="274935" cy="280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346;p2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83541" y="5451214"/>
            <a:ext cx="250191" cy="26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347;p2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01300" y="586993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51;p25"/>
          <p:cNvSpPr txBox="1"/>
          <p:nvPr/>
        </p:nvSpPr>
        <p:spPr>
          <a:xfrm>
            <a:off x="6783531" y="4638398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Dimensions (Lookups)</a:t>
            </a:r>
            <a:endParaRPr dirty="0"/>
          </a:p>
        </p:txBody>
      </p:sp>
      <p:sp>
        <p:nvSpPr>
          <p:cNvPr id="44" name="Google Shape;354;p25"/>
          <p:cNvSpPr txBox="1"/>
          <p:nvPr/>
        </p:nvSpPr>
        <p:spPr>
          <a:xfrm>
            <a:off x="7276607" y="4966253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Customers: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Profils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socio-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économiques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45" name="Google Shape;355;p25"/>
          <p:cNvSpPr txBox="1"/>
          <p:nvPr/>
        </p:nvSpPr>
        <p:spPr>
          <a:xfrm>
            <a:off x="7276607" y="5363399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Products: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Catalogue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dénormalisé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46" name="Google Shape;356;p25"/>
          <p:cNvSpPr txBox="1"/>
          <p:nvPr/>
        </p:nvSpPr>
        <p:spPr>
          <a:xfrm>
            <a:off x="7276607" y="579571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Territories: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Hiérarchie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géographique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571500" y="6505575"/>
            <a:ext cx="1485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r>
              <a:rPr lang="en-US" sz="1050" b="0" i="0" u="none" strike="noStrike" cap="none" dirty="0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View (</a:t>
            </a:r>
            <a:r>
              <a:rPr lang="en-US" sz="1050" b="0" i="0" u="none" strike="noStrike" cap="none" dirty="0" err="1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PowerBI</a:t>
            </a:r>
            <a:r>
              <a:rPr lang="en-US" sz="1050" b="0" i="0" u="none" strike="noStrike" cap="none" dirty="0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366" name="Google Shape;366;p26"/>
          <p:cNvSpPr txBox="1"/>
          <p:nvPr/>
        </p:nvSpPr>
        <p:spPr>
          <a:xfrm>
            <a:off x="295275" y="166148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Schéma</a:t>
            </a:r>
            <a:r>
              <a:rPr lang="en-US" sz="28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Relationnel</a:t>
            </a:r>
            <a:r>
              <a:rPr lang="en-US" sz="28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8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Étoile</a:t>
            </a:r>
            <a:endParaRPr sz="2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4" y="649422"/>
            <a:ext cx="9662999" cy="5803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7"/>
          <p:cNvSpPr txBox="1"/>
          <p:nvPr/>
        </p:nvSpPr>
        <p:spPr>
          <a:xfrm>
            <a:off x="571500" y="2228850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PARTIE III</a:t>
            </a:r>
            <a:endParaRPr sz="2000" dirty="0"/>
          </a:p>
        </p:txBody>
      </p:sp>
      <p:sp>
        <p:nvSpPr>
          <p:cNvPr id="379" name="Google Shape;379;p27"/>
          <p:cNvSpPr txBox="1"/>
          <p:nvPr/>
        </p:nvSpPr>
        <p:spPr>
          <a:xfrm>
            <a:off x="295275" y="2724150"/>
            <a:ext cx="11601450" cy="19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Réalisation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du Pipeline ETL par Python</a:t>
            </a:r>
            <a:endParaRPr dirty="0"/>
          </a:p>
        </p:txBody>
      </p:sp>
      <p:sp>
        <p:nvSpPr>
          <p:cNvPr id="380" name="Google Shape;380;p27"/>
          <p:cNvSpPr txBox="1"/>
          <p:nvPr/>
        </p:nvSpPr>
        <p:spPr>
          <a:xfrm>
            <a:off x="464710" y="355563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L'ingénierie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données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 le code</a:t>
            </a:r>
            <a:endParaRPr dirty="0"/>
          </a:p>
        </p:txBody>
      </p:sp>
      <p:sp>
        <p:nvSpPr>
          <p:cNvPr id="381" name="Google Shape;381;p27"/>
          <p:cNvSpPr/>
          <p:nvPr/>
        </p:nvSpPr>
        <p:spPr>
          <a:xfrm>
            <a:off x="2517348" y="3509913"/>
            <a:ext cx="6943725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 txBox="1"/>
          <p:nvPr/>
        </p:nvSpPr>
        <p:spPr>
          <a:xfrm>
            <a:off x="571500" y="6505575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Comparaison Stratégique</a:t>
            </a:r>
            <a:endParaRPr/>
          </a:p>
        </p:txBody>
      </p:sp>
      <p:graphicFrame>
        <p:nvGraphicFramePr>
          <p:cNvPr id="391" name="Google Shape;391;p28"/>
          <p:cNvGraphicFramePr/>
          <p:nvPr>
            <p:extLst>
              <p:ext uri="{D42A27DB-BD31-4B8C-83A1-F6EECF244321}">
                <p14:modId xmlns:p14="http://schemas.microsoft.com/office/powerpoint/2010/main" val="1416744813"/>
              </p:ext>
            </p:extLst>
          </p:nvPr>
        </p:nvGraphicFramePr>
        <p:xfrm>
          <a:off x="571500" y="1962137"/>
          <a:ext cx="11049000" cy="2990875"/>
        </p:xfrm>
        <a:graphic>
          <a:graphicData uri="http://schemas.openxmlformats.org/drawingml/2006/table">
            <a:tbl>
              <a:tblPr firstRow="1" bandRow="1">
                <a:noFill/>
                <a:tableStyleId>{62E4F46C-73E3-4ECB-84D9-A1C0BEC3C86D}</a:tableStyleId>
              </a:tblPr>
              <a:tblGrid>
                <a:gridCol w="2269475"/>
                <a:gridCol w="4120900"/>
                <a:gridCol w="4658625"/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Critère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(Pandas)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ETL Graphique (Talend)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Vitesse native, vectorisée.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Overhead JVM conséquent.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Versionning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Git-friendly (Code pur).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XML complexe, illisible.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Flexibilité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Maintenance granulaire.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Boîtes noires graphiques.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Coût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Zéro licence (Open Source).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Licences entreprises onéreuses.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 CODE-FIRST VS GRAPHIQUE</a:t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571500" y="3138475"/>
            <a:ext cx="226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2840980" y="3138475"/>
            <a:ext cx="41209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6961882" y="3138475"/>
            <a:ext cx="465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571500" y="3738550"/>
            <a:ext cx="226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2840980" y="3738550"/>
            <a:ext cx="41209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6961882" y="3738550"/>
            <a:ext cx="465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571500" y="4338625"/>
            <a:ext cx="226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2840980" y="4338625"/>
            <a:ext cx="41209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6961882" y="4338625"/>
            <a:ext cx="465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571500" y="4938700"/>
            <a:ext cx="226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2840980" y="4938700"/>
            <a:ext cx="41209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6961882" y="4938700"/>
            <a:ext cx="465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 txBox="1"/>
          <p:nvPr/>
        </p:nvSpPr>
        <p:spPr>
          <a:xfrm>
            <a:off x="571500" y="6505575"/>
            <a:ext cx="229504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Pipeline Robustness</a:t>
            </a:r>
            <a:endParaRPr/>
          </a:p>
        </p:txBody>
      </p:sp>
      <p:pic>
        <p:nvPicPr>
          <p:cNvPr id="415" name="Google Shape;415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9824" y="2457486"/>
            <a:ext cx="279662" cy="32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9824" y="2955962"/>
            <a:ext cx="314619" cy="32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63624" y="4186820"/>
            <a:ext cx="314619" cy="32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98582" y="4636575"/>
            <a:ext cx="244704" cy="32170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ROBUSTESSE D'EXTRACTION &amp; CLEAN</a:t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 txBox="1"/>
          <p:nvPr/>
        </p:nvSpPr>
        <p:spPr>
          <a:xfrm>
            <a:off x="921019" y="1956867"/>
            <a:ext cx="1069948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Mécanisme de Secours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921019" y="3697707"/>
            <a:ext cx="10699481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Nettoyage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Vectorisé</a:t>
            </a:r>
            <a:endParaRPr dirty="0"/>
          </a:p>
        </p:txBody>
      </p:sp>
      <p:sp>
        <p:nvSpPr>
          <p:cNvPr id="423" name="Google Shape;423;p29"/>
          <p:cNvSpPr txBox="1"/>
          <p:nvPr/>
        </p:nvSpPr>
        <p:spPr>
          <a:xfrm>
            <a:off x="1730643" y="2385492"/>
            <a:ext cx="8629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Fallback Encoding: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Basculement automatique de UTF-8 à Latin-1 en cas d'erreur.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1730643" y="2883968"/>
            <a:ext cx="8629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Extension Logic: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Résolution dynamique des anomalies de double extension (.csv.csv).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1654443" y="4114826"/>
            <a:ext cx="8629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Regex: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Extraction de valeurs numériques pures des chaînes complexes.</a:t>
            </a:r>
            <a:endParaRPr/>
          </a:p>
        </p:txBody>
      </p:sp>
      <p:sp>
        <p:nvSpPr>
          <p:cNvPr id="426" name="Google Shape;426;p29"/>
          <p:cNvSpPr txBox="1"/>
          <p:nvPr/>
        </p:nvSpPr>
        <p:spPr>
          <a:xfrm>
            <a:off x="1619486" y="4574066"/>
            <a:ext cx="8629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Normalisation: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Standardisation en Title Case pour tous les noms.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33587"/>
            <a:ext cx="5381625" cy="2425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4" name="Google Shape;43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033587"/>
            <a:ext cx="5381625" cy="2425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5" name="Google Shape;435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0"/>
          <p:cNvSpPr txBox="1"/>
          <p:nvPr/>
        </p:nvSpPr>
        <p:spPr>
          <a:xfrm>
            <a:off x="571500" y="6505575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Logiciel transform.py</a:t>
            </a:r>
            <a:endParaRPr/>
          </a:p>
        </p:txBody>
      </p:sp>
      <p:pic>
        <p:nvPicPr>
          <p:cNvPr id="438" name="Google Shape;438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24050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4050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FOCUS PANDAS: COUCHE TRANSFORMATION</a:t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571500" y="49970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Utilisation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massive des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opérations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vectorisées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pour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minimiser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latence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traitement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."</a:t>
            </a:r>
            <a:endParaRPr dirty="0"/>
          </a:p>
        </p:txBody>
      </p:sp>
      <p:sp>
        <p:nvSpPr>
          <p:cNvPr id="443" name="Google Shape;443;p30"/>
          <p:cNvSpPr txBox="1"/>
          <p:nvPr/>
        </p:nvSpPr>
        <p:spPr>
          <a:xfrm>
            <a:off x="1445419" y="2476500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Ingénierie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d'Attributs</a:t>
            </a:r>
            <a:endParaRPr dirty="0"/>
          </a:p>
        </p:txBody>
      </p:sp>
      <p:sp>
        <p:nvSpPr>
          <p:cNvPr id="444" name="Google Shape;444;p30"/>
          <p:cNvSpPr txBox="1"/>
          <p:nvPr/>
        </p:nvSpPr>
        <p:spPr>
          <a:xfrm>
            <a:off x="1439405" y="2903577"/>
            <a:ext cx="390299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 dynamique de l'âge exact, segmentation des revenus (Low, Average, High) et calcul de remise unitaire.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7112794" y="2476500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Logique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Métier</a:t>
            </a:r>
            <a:endParaRPr dirty="0"/>
          </a:p>
        </p:txBody>
      </p:sp>
      <p:sp>
        <p:nvSpPr>
          <p:cNvPr id="446" name="Google Shape;446;p30"/>
          <p:cNvSpPr txBox="1"/>
          <p:nvPr/>
        </p:nvSpPr>
        <p:spPr>
          <a:xfrm>
            <a:off x="7106780" y="2903577"/>
            <a:ext cx="390299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Extraction des racines SKU, catégorisation par "PricePoint" et création du label de priorité client stratégique.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2193" y="1941314"/>
            <a:ext cx="5286375" cy="291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4" name="Google Shape;45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1"/>
          <p:cNvSpPr txBox="1"/>
          <p:nvPr/>
        </p:nvSpPr>
        <p:spPr>
          <a:xfrm>
            <a:off x="571500" y="6505575"/>
            <a:ext cx="1143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Persistence MySQL</a:t>
            </a:r>
            <a:endParaRPr/>
          </a:p>
        </p:txBody>
      </p:sp>
      <p:pic>
        <p:nvPicPr>
          <p:cNvPr id="457" name="Google Shape;457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47560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339521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CHARGEMENT DE DONNÉES &amp; INTÉGRITÉ</a:t>
            </a:r>
            <a:endParaRPr/>
          </a:p>
        </p:txBody>
      </p:sp>
      <p:sp>
        <p:nvSpPr>
          <p:cNvPr id="460" name="Google Shape;460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571500" y="199935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Stratégie Bulk Insert</a:t>
            </a:r>
            <a:endParaRPr/>
          </a:p>
        </p:txBody>
      </p:sp>
      <p:sp>
        <p:nvSpPr>
          <p:cNvPr id="462" name="Google Shape;462;p31"/>
          <p:cNvSpPr txBox="1"/>
          <p:nvPr/>
        </p:nvSpPr>
        <p:spPr>
          <a:xfrm>
            <a:off x="6619875" y="2323207"/>
            <a:ext cx="495061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Séquencement Strict</a:t>
            </a:r>
            <a:endParaRPr/>
          </a:p>
        </p:txBody>
      </p:sp>
      <p:sp>
        <p:nvSpPr>
          <p:cNvPr id="463" name="Google Shape;463;p31"/>
          <p:cNvSpPr txBox="1"/>
          <p:nvPr/>
        </p:nvSpPr>
        <p:spPr>
          <a:xfrm>
            <a:off x="6619875" y="2885182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sz="15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Dimensions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Indépendantes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Dimensions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Dépendantes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Tables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Faits</a:t>
            </a:r>
            <a:endParaRPr dirty="0"/>
          </a:p>
        </p:txBody>
      </p:sp>
      <p:sp>
        <p:nvSpPr>
          <p:cNvPr id="464" name="Google Shape;464;p31"/>
          <p:cNvSpPr txBox="1"/>
          <p:nvPr/>
        </p:nvSpPr>
        <p:spPr>
          <a:xfrm>
            <a:off x="6619876" y="3990082"/>
            <a:ext cx="391929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 respect des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contraintes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d'intégrité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référentielle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lors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chargement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465" name="Google Shape;465;p31"/>
          <p:cNvSpPr txBox="1"/>
          <p:nvPr/>
        </p:nvSpPr>
        <p:spPr>
          <a:xfrm>
            <a:off x="1381125" y="2427982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Chunks: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Insertion par lots de 5000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lignes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pour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optimiser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les performances SQL.</a:t>
            </a:r>
            <a:endParaRPr dirty="0"/>
          </a:p>
        </p:txBody>
      </p:sp>
      <p:sp>
        <p:nvSpPr>
          <p:cNvPr id="466" name="Google Shape;466;p31"/>
          <p:cNvSpPr txBox="1"/>
          <p:nvPr/>
        </p:nvSpPr>
        <p:spPr>
          <a:xfrm>
            <a:off x="1381125" y="3347591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Idempotence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Commande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TRUNCATE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sécurisée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via `FOREIGN_KEY_CHECKS = 0`.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2"/>
          <p:cNvSpPr txBox="1"/>
          <p:nvPr/>
        </p:nvSpPr>
        <p:spPr>
          <a:xfrm>
            <a:off x="571500" y="6586537"/>
            <a:ext cx="1190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Qualité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données</a:t>
            </a:r>
            <a:endParaRPr dirty="0"/>
          </a:p>
        </p:txBody>
      </p:sp>
      <p:sp>
        <p:nvSpPr>
          <p:cNvPr id="476" name="Google Shape;476;p32"/>
          <p:cNvSpPr txBox="1"/>
          <p:nvPr/>
        </p:nvSpPr>
        <p:spPr>
          <a:xfrm>
            <a:off x="326404" y="2502620"/>
            <a:ext cx="5610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477" name="Google Shape;477;p32"/>
          <p:cNvSpPr txBox="1"/>
          <p:nvPr/>
        </p:nvSpPr>
        <p:spPr>
          <a:xfrm>
            <a:off x="326404" y="3931370"/>
            <a:ext cx="5610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Intégrité Référentielle</a:t>
            </a:r>
            <a:endParaRPr/>
          </a:p>
        </p:txBody>
      </p:sp>
      <p:pic>
        <p:nvPicPr>
          <p:cNvPr id="478" name="Google Shape;478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36629" y="33741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36629" y="38694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36629" y="436475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AUDIT QUALITÉ DE L'ENTREPÔT</a:t>
            </a:r>
            <a:endParaRPr/>
          </a:p>
        </p:txBody>
      </p:sp>
      <p:sp>
        <p:nvSpPr>
          <p:cNvPr id="482" name="Google Shape;482;p3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2"/>
          <p:cNvSpPr txBox="1"/>
          <p:nvPr/>
        </p:nvSpPr>
        <p:spPr>
          <a:xfrm>
            <a:off x="5936629" y="2364507"/>
            <a:ext cx="49106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check_integrity.py</a:t>
            </a:r>
            <a:endParaRPr/>
          </a:p>
        </p:txBody>
      </p:sp>
      <p:sp>
        <p:nvSpPr>
          <p:cNvPr id="484" name="Google Shape;484;p32"/>
          <p:cNvSpPr txBox="1"/>
          <p:nvPr/>
        </p:nvSpPr>
        <p:spPr>
          <a:xfrm>
            <a:off x="5936629" y="2831232"/>
            <a:ext cx="4676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Audit automatisé post-chargement validant :</a:t>
            </a:r>
            <a:endParaRPr/>
          </a:p>
        </p:txBody>
      </p:sp>
      <p:sp>
        <p:nvSpPr>
          <p:cNvPr id="485" name="Google Shape;485;p32"/>
          <p:cNvSpPr txBox="1"/>
          <p:nvPr/>
        </p:nvSpPr>
        <p:spPr>
          <a:xfrm>
            <a:off x="6365253" y="3326532"/>
            <a:ext cx="55690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Row Counts: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Correspondance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parfaite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 volumes.</a:t>
            </a:r>
            <a:endParaRPr dirty="0"/>
          </a:p>
        </p:txBody>
      </p:sp>
      <p:sp>
        <p:nvSpPr>
          <p:cNvPr id="486" name="Google Shape;486;p32"/>
          <p:cNvSpPr txBox="1"/>
          <p:nvPr/>
        </p:nvSpPr>
        <p:spPr>
          <a:xfrm>
            <a:off x="6365253" y="3821832"/>
            <a:ext cx="55690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Orphan Records: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Zéro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rupture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étrangère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487" name="Google Shape;487;p32"/>
          <p:cNvSpPr txBox="1"/>
          <p:nvPr/>
        </p:nvSpPr>
        <p:spPr>
          <a:xfrm>
            <a:off x="6365253" y="4317132"/>
            <a:ext cx="55690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 Validity: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Validation des typages et plages.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3"/>
          <p:cNvSpPr txBox="1"/>
          <p:nvPr/>
        </p:nvSpPr>
        <p:spPr>
          <a:xfrm>
            <a:off x="847725" y="2452687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PARTIE IV</a:t>
            </a:r>
            <a:endParaRPr sz="2000" dirty="0"/>
          </a:p>
        </p:txBody>
      </p:sp>
      <p:sp>
        <p:nvSpPr>
          <p:cNvPr id="499" name="Google Shape;499;p33"/>
          <p:cNvSpPr txBox="1"/>
          <p:nvPr/>
        </p:nvSpPr>
        <p:spPr>
          <a:xfrm>
            <a:off x="571500" y="2947987"/>
            <a:ext cx="116014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Écosystème Technologique</a:t>
            </a:r>
            <a:endParaRPr/>
          </a:p>
        </p:txBody>
      </p:sp>
      <p:sp>
        <p:nvSpPr>
          <p:cNvPr id="500" name="Google Shape;500;p33"/>
          <p:cNvSpPr txBox="1"/>
          <p:nvPr/>
        </p:nvSpPr>
        <p:spPr>
          <a:xfrm>
            <a:off x="847725" y="3805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outils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performance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décisionnelle</a:t>
            </a:r>
            <a:endParaRPr dirty="0"/>
          </a:p>
        </p:txBody>
      </p:sp>
      <p:sp>
        <p:nvSpPr>
          <p:cNvPr id="501" name="Google Shape;501;p33"/>
          <p:cNvSpPr/>
          <p:nvPr/>
        </p:nvSpPr>
        <p:spPr>
          <a:xfrm>
            <a:off x="2846796" y="3740623"/>
            <a:ext cx="7139037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2150"/>
            <a:ext cx="3492549" cy="3305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09" name="Google Shape;509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1962150"/>
            <a:ext cx="3492549" cy="3305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0" name="Google Shape;510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1962150"/>
            <a:ext cx="3492549" cy="3305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1" name="Google Shape;511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4"/>
          <p:cNvSpPr txBox="1"/>
          <p:nvPr/>
        </p:nvSpPr>
        <p:spPr>
          <a:xfrm>
            <a:off x="571500" y="6505575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Stack Technique</a:t>
            </a:r>
            <a:endParaRPr/>
          </a:p>
        </p:txBody>
      </p:sp>
      <p:sp>
        <p:nvSpPr>
          <p:cNvPr id="517" name="Google Shape;517;p3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ÉCOSYSTÈME DE DÉVELOPPEMENT</a:t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4"/>
          <p:cNvSpPr txBox="1"/>
          <p:nvPr/>
        </p:nvSpPr>
        <p:spPr>
          <a:xfrm>
            <a:off x="857250" y="3619500"/>
            <a:ext cx="3067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Python &amp; Pandas</a:t>
            </a:r>
            <a:endParaRPr dirty="0"/>
          </a:p>
        </p:txBody>
      </p:sp>
      <p:sp>
        <p:nvSpPr>
          <p:cNvPr id="520" name="Google Shape;520;p34"/>
          <p:cNvSpPr txBox="1"/>
          <p:nvPr/>
        </p:nvSpPr>
        <p:spPr>
          <a:xfrm>
            <a:off x="857250" y="4181475"/>
            <a:ext cx="29210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Ingénierie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traitement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vectorisé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données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521" name="Google Shape;521;p34"/>
          <p:cNvSpPr txBox="1"/>
          <p:nvPr/>
        </p:nvSpPr>
        <p:spPr>
          <a:xfrm>
            <a:off x="4635549" y="3619500"/>
            <a:ext cx="3067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endParaRPr dirty="0"/>
          </a:p>
        </p:txBody>
      </p:sp>
      <p:sp>
        <p:nvSpPr>
          <p:cNvPr id="522" name="Google Shape;522;p34"/>
          <p:cNvSpPr txBox="1"/>
          <p:nvPr/>
        </p:nvSpPr>
        <p:spPr>
          <a:xfrm>
            <a:off x="4635549" y="4181475"/>
            <a:ext cx="29210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Stockage relationnel ACID de l'entrepôt.</a:t>
            </a:r>
            <a:endParaRPr/>
          </a:p>
        </p:txBody>
      </p:sp>
      <p:sp>
        <p:nvSpPr>
          <p:cNvPr id="523" name="Google Shape;523;p34"/>
          <p:cNvSpPr txBox="1"/>
          <p:nvPr/>
        </p:nvSpPr>
        <p:spPr>
          <a:xfrm>
            <a:off x="8413849" y="3619500"/>
            <a:ext cx="3067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  <a:endParaRPr dirty="0"/>
          </a:p>
        </p:txBody>
      </p:sp>
      <p:sp>
        <p:nvSpPr>
          <p:cNvPr id="524" name="Google Shape;524;p34"/>
          <p:cNvSpPr txBox="1"/>
          <p:nvPr/>
        </p:nvSpPr>
        <p:spPr>
          <a:xfrm>
            <a:off x="8413849" y="4181475"/>
            <a:ext cx="29210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Visualisation et analyse métier interactive.</a:t>
            </a:r>
            <a:endParaRPr/>
          </a:p>
        </p:txBody>
      </p:sp>
      <p:pic>
        <p:nvPicPr>
          <p:cNvPr id="21" name="Image 20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749" y="2200275"/>
            <a:ext cx="1162050" cy="1181100"/>
          </a:xfrm>
          <a:prstGeom prst="rect">
            <a:avLst/>
          </a:prstGeom>
        </p:spPr>
      </p:pic>
      <p:pic>
        <p:nvPicPr>
          <p:cNvPr id="22" name="Image 21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98" y="2346325"/>
            <a:ext cx="1419860" cy="1035050"/>
          </a:xfrm>
          <a:prstGeom prst="rect">
            <a:avLst/>
          </a:prstGeom>
        </p:spPr>
      </p:pic>
      <p:pic>
        <p:nvPicPr>
          <p:cNvPr id="23" name="Image 22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589" y="2282825"/>
            <a:ext cx="105029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5"/>
          <p:cNvSpPr txBox="1"/>
          <p:nvPr/>
        </p:nvSpPr>
        <p:spPr>
          <a:xfrm>
            <a:off x="656341" y="2419428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PARTIE V</a:t>
            </a:r>
            <a:endParaRPr sz="2000" dirty="0"/>
          </a:p>
        </p:txBody>
      </p:sp>
      <p:sp>
        <p:nvSpPr>
          <p:cNvPr id="536" name="Google Shape;536;p35"/>
          <p:cNvSpPr txBox="1"/>
          <p:nvPr/>
        </p:nvSpPr>
        <p:spPr>
          <a:xfrm>
            <a:off x="380116" y="2914728"/>
            <a:ext cx="116014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Visualisation &amp; Business Intelligence</a:t>
            </a:r>
            <a:endParaRPr/>
          </a:p>
        </p:txBody>
      </p:sp>
      <p:sp>
        <p:nvSpPr>
          <p:cNvPr id="537" name="Google Shape;537;p35"/>
          <p:cNvSpPr txBox="1"/>
          <p:nvPr/>
        </p:nvSpPr>
        <p:spPr>
          <a:xfrm>
            <a:off x="656341" y="373372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Transformer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donnée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action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stratégique</a:t>
            </a:r>
            <a:endParaRPr dirty="0"/>
          </a:p>
        </p:txBody>
      </p:sp>
      <p:sp>
        <p:nvSpPr>
          <p:cNvPr id="538" name="Google Shape;538;p35"/>
          <p:cNvSpPr/>
          <p:nvPr/>
        </p:nvSpPr>
        <p:spPr>
          <a:xfrm>
            <a:off x="2272252" y="3665299"/>
            <a:ext cx="8002964" cy="45719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6"/>
          <p:cNvSpPr txBox="1"/>
          <p:nvPr/>
        </p:nvSpPr>
        <p:spPr>
          <a:xfrm>
            <a:off x="571500" y="6505575"/>
            <a:ext cx="1219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Calculs Sémantiques</a:t>
            </a:r>
            <a:endParaRPr/>
          </a:p>
        </p:txBody>
      </p:sp>
      <p:graphicFrame>
        <p:nvGraphicFramePr>
          <p:cNvPr id="548" name="Google Shape;548;p36"/>
          <p:cNvGraphicFramePr/>
          <p:nvPr>
            <p:extLst>
              <p:ext uri="{D42A27DB-BD31-4B8C-83A1-F6EECF244321}">
                <p14:modId xmlns:p14="http://schemas.microsoft.com/office/powerpoint/2010/main" val="2568442978"/>
              </p:ext>
            </p:extLst>
          </p:nvPr>
        </p:nvGraphicFramePr>
        <p:xfrm>
          <a:off x="571500" y="1747862"/>
          <a:ext cx="11049000" cy="3067000"/>
        </p:xfrm>
        <a:graphic>
          <a:graphicData uri="http://schemas.openxmlformats.org/drawingml/2006/table">
            <a:tbl>
              <a:tblPr firstRow="1" bandRow="1">
                <a:noFill/>
                <a:tableStyleId>{62E4F46C-73E3-4ECB-84D9-A1C0BEC3C86D}</a:tableStyleId>
              </a:tblPr>
              <a:tblGrid>
                <a:gridCol w="1941175"/>
                <a:gridCol w="4761300"/>
                <a:gridCol w="4346525"/>
              </a:tblGrid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Mesure KPI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Logique DAX / Formule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Impact Métier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Revenue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SUMX(Sales, Qty * Related(Price))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Chiffre d'Affaires Brut Global.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DIVIDE(Sum(Returns), Sum(Sales))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Qualité &amp; SAV.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AOV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DIVIDE([Revenue], [Total Orders])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Valeur Panier Moyen Transactionnel.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YTD Revenue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TOTALYTD([Revenue], Calendar[Date])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Cumulée Annuelle.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3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INGÉNIERIE DES MESURES DAX</a:t>
            </a:r>
            <a:endParaRPr/>
          </a:p>
        </p:txBody>
      </p:sp>
      <p:sp>
        <p:nvSpPr>
          <p:cNvPr id="550" name="Google Shape;550;p3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571500" y="2943250"/>
            <a:ext cx="1941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2512665" y="2943250"/>
            <a:ext cx="47613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7273974" y="2943250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571500" y="3562375"/>
            <a:ext cx="1941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/>
          <p:nvPr/>
        </p:nvSpPr>
        <p:spPr>
          <a:xfrm>
            <a:off x="2512665" y="3562375"/>
            <a:ext cx="47613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7273974" y="3562375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571500" y="4181500"/>
            <a:ext cx="1941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2512665" y="4181500"/>
            <a:ext cx="47613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6"/>
          <p:cNvSpPr/>
          <p:nvPr/>
        </p:nvSpPr>
        <p:spPr>
          <a:xfrm>
            <a:off x="7273974" y="4181500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571500" y="4800625"/>
            <a:ext cx="1941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2512665" y="4800625"/>
            <a:ext cx="47613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6"/>
          <p:cNvSpPr/>
          <p:nvPr/>
        </p:nvSpPr>
        <p:spPr>
          <a:xfrm>
            <a:off x="7273974" y="4800625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7"/>
          <p:cNvSpPr txBox="1"/>
          <p:nvPr/>
        </p:nvSpPr>
        <p:spPr>
          <a:xfrm>
            <a:off x="571500" y="6505575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Executive Dashboard</a:t>
            </a:r>
            <a:endParaRPr/>
          </a:p>
        </p:txBody>
      </p:sp>
      <p:sp>
        <p:nvSpPr>
          <p:cNvPr id="575" name="Google Shape;575;p37"/>
          <p:cNvSpPr txBox="1"/>
          <p:nvPr/>
        </p:nvSpPr>
        <p:spPr>
          <a:xfrm>
            <a:off x="639450" y="245487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GLOBALE</a:t>
            </a:r>
            <a:endParaRPr/>
          </a:p>
        </p:txBody>
      </p:sp>
      <p:sp>
        <p:nvSpPr>
          <p:cNvPr id="576" name="Google Shape;576;p37"/>
          <p:cNvSpPr/>
          <p:nvPr/>
        </p:nvSpPr>
        <p:spPr>
          <a:xfrm>
            <a:off x="486658" y="261248"/>
            <a:ext cx="69523" cy="44659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207" y="785523"/>
            <a:ext cx="9814635" cy="5562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59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8"/>
          <p:cNvSpPr txBox="1"/>
          <p:nvPr/>
        </p:nvSpPr>
        <p:spPr>
          <a:xfrm>
            <a:off x="571499" y="6505575"/>
            <a:ext cx="181348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Insights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Stratégiques</a:t>
            </a:r>
            <a:endParaRPr dirty="0"/>
          </a:p>
        </p:txBody>
      </p:sp>
      <p:sp>
        <p:nvSpPr>
          <p:cNvPr id="590" name="Google Shape;590;p3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ANALYSE: DASHBOARD VENTES</a:t>
            </a:r>
            <a:endParaRPr/>
          </a:p>
        </p:txBody>
      </p:sp>
      <p:sp>
        <p:nvSpPr>
          <p:cNvPr id="591" name="Google Shape;591;p3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577;p37"/>
          <p:cNvSpPr txBox="1"/>
          <p:nvPr/>
        </p:nvSpPr>
        <p:spPr>
          <a:xfrm>
            <a:off x="571500" y="1616337"/>
            <a:ext cx="221122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$24.91M Revenue</a:t>
            </a:r>
            <a:endParaRPr sz="1600" dirty="0"/>
          </a:p>
        </p:txBody>
      </p:sp>
      <p:sp>
        <p:nvSpPr>
          <p:cNvPr id="23" name="Google Shape;578;p37"/>
          <p:cNvSpPr txBox="1"/>
          <p:nvPr/>
        </p:nvSpPr>
        <p:spPr>
          <a:xfrm>
            <a:off x="2529734" y="1517848"/>
            <a:ext cx="631542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macro-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économique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pilotée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 les KPIs de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revenus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de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volumétrie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4" name="Google Shape;573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470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574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21059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579;p37"/>
          <p:cNvSpPr txBox="1"/>
          <p:nvPr/>
        </p:nvSpPr>
        <p:spPr>
          <a:xfrm>
            <a:off x="990059" y="238033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2016 Peak: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Croissance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majeure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atteignant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$9.32M.</a:t>
            </a:r>
            <a:endParaRPr dirty="0"/>
          </a:p>
        </p:txBody>
      </p:sp>
      <p:sp>
        <p:nvSpPr>
          <p:cNvPr id="27" name="Google Shape;580;p37"/>
          <p:cNvSpPr txBox="1"/>
          <p:nvPr/>
        </p:nvSpPr>
        <p:spPr>
          <a:xfrm>
            <a:off x="990059" y="1954384"/>
            <a:ext cx="452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Bikes Dominance</a:t>
            </a:r>
            <a:r>
              <a:rPr lang="en-US" sz="1500" b="1" i="0" u="none" strike="noStrike" cap="none" dirty="0" smtClean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23.6M revenue </a:t>
            </a:r>
            <a:endParaRPr dirty="0"/>
          </a:p>
        </p:txBody>
      </p:sp>
      <p:pic>
        <p:nvPicPr>
          <p:cNvPr id="28" name="Google Shape;653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99" y="3151016"/>
            <a:ext cx="5381625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Google Shape;654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69807" y="3151015"/>
            <a:ext cx="5381625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Google Shape;592;p38"/>
          <p:cNvSpPr txBox="1"/>
          <p:nvPr/>
        </p:nvSpPr>
        <p:spPr>
          <a:xfrm>
            <a:off x="810509" y="3318118"/>
            <a:ext cx="438859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Tendances</a:t>
            </a:r>
            <a:r>
              <a:rPr lang="en-US" sz="1950" b="1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Temporelles</a:t>
            </a:r>
            <a:endParaRPr sz="1950" b="1" dirty="0">
              <a:solidFill>
                <a:srgbClr val="005088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1" name="Google Shape;593;p38"/>
          <p:cNvSpPr txBox="1"/>
          <p:nvPr/>
        </p:nvSpPr>
        <p:spPr>
          <a:xfrm>
            <a:off x="810509" y="3784843"/>
            <a:ext cx="417961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 observe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accélération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phénoménale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2016,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suivie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d'une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phase de consolidation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saine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2017.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stabilisation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témoigne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d'une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maturité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sur les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marchés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historiques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(USA,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Australie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32" name="Google Shape;594;p38"/>
          <p:cNvSpPr txBox="1"/>
          <p:nvPr/>
        </p:nvSpPr>
        <p:spPr>
          <a:xfrm>
            <a:off x="6573134" y="3318118"/>
            <a:ext cx="438859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Répartition</a:t>
            </a:r>
            <a:r>
              <a:rPr lang="en-US" sz="1950" b="1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Géographique</a:t>
            </a:r>
            <a:endParaRPr sz="1950" b="1" dirty="0">
              <a:solidFill>
                <a:srgbClr val="005088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3" name="Google Shape;595;p38"/>
          <p:cNvSpPr txBox="1"/>
          <p:nvPr/>
        </p:nvSpPr>
        <p:spPr>
          <a:xfrm>
            <a:off x="6573134" y="3784843"/>
            <a:ext cx="417961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Les États-Unis dominent le marché mondial ($8M), talonnés par l'Australie ($7.4M). L'Europe affiche une présence homogène, portée par le Royaume-Uni et l'Allemagne.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9"/>
          <p:cNvSpPr txBox="1"/>
          <p:nvPr/>
        </p:nvSpPr>
        <p:spPr>
          <a:xfrm>
            <a:off x="571500" y="6505575"/>
            <a:ext cx="1009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Logistique &amp; SAV</a:t>
            </a:r>
            <a:endParaRPr/>
          </a:p>
        </p:txBody>
      </p:sp>
      <p:sp>
        <p:nvSpPr>
          <p:cNvPr id="608" name="Google Shape;608;p39"/>
          <p:cNvSpPr txBox="1"/>
          <p:nvPr/>
        </p:nvSpPr>
        <p:spPr>
          <a:xfrm>
            <a:off x="571500" y="231907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QUALITÉ &amp; RETOURS</a:t>
            </a:r>
            <a:endParaRPr dirty="0"/>
          </a:p>
        </p:txBody>
      </p:sp>
      <p:sp>
        <p:nvSpPr>
          <p:cNvPr id="609" name="Google Shape;609;p39"/>
          <p:cNvSpPr/>
          <p:nvPr/>
        </p:nvSpPr>
        <p:spPr>
          <a:xfrm>
            <a:off x="381000" y="231907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12" y="851032"/>
            <a:ext cx="9587217" cy="5464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0"/>
          <p:cNvSpPr txBox="1"/>
          <p:nvPr/>
        </p:nvSpPr>
        <p:spPr>
          <a:xfrm>
            <a:off x="571500" y="6505575"/>
            <a:ext cx="1266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Supply Chain Insights</a:t>
            </a:r>
            <a:endParaRPr/>
          </a:p>
        </p:txBody>
      </p:sp>
      <p:sp>
        <p:nvSpPr>
          <p:cNvPr id="623" name="Google Shape;623;p4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ANALYSE: DASHBOARD RETOURS</a:t>
            </a:r>
            <a:endParaRPr/>
          </a:p>
        </p:txBody>
      </p:sp>
      <p:sp>
        <p:nvSpPr>
          <p:cNvPr id="624" name="Google Shape;624;p4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606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14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607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5098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610;p39"/>
          <p:cNvSpPr txBox="1"/>
          <p:nvPr/>
        </p:nvSpPr>
        <p:spPr>
          <a:xfrm>
            <a:off x="571501" y="1593130"/>
            <a:ext cx="240737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BE123C"/>
                </a:solidFill>
                <a:latin typeface="Poppins"/>
                <a:ea typeface="Poppins"/>
                <a:cs typeface="Poppins"/>
                <a:sym typeface="Poppins"/>
              </a:rPr>
              <a:t>2.00% </a:t>
            </a:r>
            <a:r>
              <a:rPr lang="en-US" sz="1600" b="1" i="0" u="none" strike="noStrike" cap="none" dirty="0">
                <a:solidFill>
                  <a:srgbClr val="BE123C"/>
                </a:solidFill>
                <a:latin typeface="Poppins"/>
                <a:ea typeface="Poppins"/>
                <a:cs typeface="Poppins"/>
                <a:sym typeface="Poppins"/>
              </a:rPr>
              <a:t>Return</a:t>
            </a:r>
            <a:r>
              <a:rPr lang="en-US" b="1" i="0" u="none" strike="noStrike" cap="none" dirty="0">
                <a:solidFill>
                  <a:srgbClr val="BE123C"/>
                </a:solidFill>
                <a:latin typeface="Poppins"/>
                <a:ea typeface="Poppins"/>
                <a:cs typeface="Poppins"/>
                <a:sym typeface="Poppins"/>
              </a:rPr>
              <a:t> Rate</a:t>
            </a:r>
            <a:endParaRPr dirty="0"/>
          </a:p>
        </p:txBody>
      </p:sp>
      <p:sp>
        <p:nvSpPr>
          <p:cNvPr id="16" name="Google Shape;611;p39"/>
          <p:cNvSpPr txBox="1"/>
          <p:nvPr/>
        </p:nvSpPr>
        <p:spPr>
          <a:xfrm>
            <a:off x="2427791" y="1520309"/>
            <a:ext cx="8465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Surveillance des anomalies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logistiques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 de la satisfaction client.</a:t>
            </a:r>
            <a:endParaRPr dirty="0"/>
          </a:p>
        </p:txBody>
      </p:sp>
      <p:sp>
        <p:nvSpPr>
          <p:cNvPr id="17" name="Google Shape;612;p39"/>
          <p:cNvSpPr txBox="1"/>
          <p:nvPr/>
        </p:nvSpPr>
        <p:spPr>
          <a:xfrm>
            <a:off x="1000125" y="196691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Accessories: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1130 retours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Volumétrie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8" name="Google Shape;613;p39"/>
          <p:cNvSpPr txBox="1"/>
          <p:nvPr/>
        </p:nvSpPr>
        <p:spPr>
          <a:xfrm>
            <a:off x="1000125" y="246221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Bikes: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429 retours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Coût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élevé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pic>
        <p:nvPicPr>
          <p:cNvPr id="19" name="Google Shape;653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228009"/>
            <a:ext cx="5381625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Google Shape;654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49285" y="3228009"/>
            <a:ext cx="5381625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Google Shape;625;p40"/>
          <p:cNvSpPr txBox="1"/>
          <p:nvPr/>
        </p:nvSpPr>
        <p:spPr>
          <a:xfrm>
            <a:off x="733426" y="3400381"/>
            <a:ext cx="447468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Point de Vigilance "Bikes"</a:t>
            </a:r>
            <a:endParaRPr sz="1950" b="1" dirty="0">
              <a:solidFill>
                <a:srgbClr val="005088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" name="Google Shape;626;p40"/>
          <p:cNvSpPr txBox="1"/>
          <p:nvPr/>
        </p:nvSpPr>
        <p:spPr>
          <a:xfrm>
            <a:off x="733426" y="3867106"/>
            <a:ext cx="426160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Bien que les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accessoires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dominent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volume, les 429 retours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vélos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pèsent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lourdement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sur la marge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nette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Un audit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qualité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transport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préconisé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pour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réduire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coût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logistique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3" name="Google Shape;627;p40"/>
          <p:cNvSpPr txBox="1"/>
          <p:nvPr/>
        </p:nvSpPr>
        <p:spPr>
          <a:xfrm>
            <a:off x="6496051" y="3400381"/>
            <a:ext cx="447468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Optimisation</a:t>
            </a:r>
            <a:r>
              <a:rPr lang="en-US" sz="1950" b="1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e-Commerce</a:t>
            </a:r>
            <a:endParaRPr sz="1950" b="1" dirty="0">
              <a:solidFill>
                <a:srgbClr val="005088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4" name="Google Shape;628;p40"/>
          <p:cNvSpPr txBox="1"/>
          <p:nvPr/>
        </p:nvSpPr>
        <p:spPr>
          <a:xfrm>
            <a:off x="6496051" y="3867106"/>
            <a:ext cx="426160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Les retours fréquents sur les accessoires (Gourdes, Casques) suggèrent un besoin d'enrichissement des fiches produits et des guides de compatibilité en ligne.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1"/>
          <p:cNvSpPr txBox="1"/>
          <p:nvPr/>
        </p:nvSpPr>
        <p:spPr>
          <a:xfrm>
            <a:off x="571500" y="6505575"/>
            <a:ext cx="13144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Secteurs &amp; Références</a:t>
            </a:r>
            <a:endParaRPr/>
          </a:p>
        </p:txBody>
      </p:sp>
      <p:sp>
        <p:nvSpPr>
          <p:cNvPr id="641" name="Google Shape;641;p41"/>
          <p:cNvSpPr txBox="1"/>
          <p:nvPr/>
        </p:nvSpPr>
        <p:spPr>
          <a:xfrm>
            <a:off x="762000" y="203855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PRODUITS</a:t>
            </a:r>
            <a:endParaRPr/>
          </a:p>
        </p:txBody>
      </p:sp>
      <p:sp>
        <p:nvSpPr>
          <p:cNvPr id="642" name="Google Shape;642;p41"/>
          <p:cNvSpPr/>
          <p:nvPr/>
        </p:nvSpPr>
        <p:spPr>
          <a:xfrm>
            <a:off x="571500" y="203856"/>
            <a:ext cx="76200" cy="531436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996" y="735292"/>
            <a:ext cx="9539858" cy="5575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3700"/>
            <a:ext cx="5381625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54" name="Google Shape;654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933700"/>
            <a:ext cx="5381625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55" name="Google Shape;655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2"/>
          <p:cNvSpPr txBox="1"/>
          <p:nvPr/>
        </p:nvSpPr>
        <p:spPr>
          <a:xfrm>
            <a:off x="571500" y="650557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Portfolio Mix</a:t>
            </a:r>
            <a:endParaRPr/>
          </a:p>
        </p:txBody>
      </p:sp>
      <p:sp>
        <p:nvSpPr>
          <p:cNvPr id="658" name="Google Shape;658;p42"/>
          <p:cNvSpPr txBox="1"/>
          <p:nvPr/>
        </p:nvSpPr>
        <p:spPr>
          <a:xfrm>
            <a:off x="762000" y="353848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ANALYSE: DASHBOARD PRODUITS</a:t>
            </a:r>
            <a:endParaRPr dirty="0"/>
          </a:p>
        </p:txBody>
      </p:sp>
      <p:sp>
        <p:nvSpPr>
          <p:cNvPr id="659" name="Google Shape;659;p42"/>
          <p:cNvSpPr/>
          <p:nvPr/>
        </p:nvSpPr>
        <p:spPr>
          <a:xfrm>
            <a:off x="571500" y="353848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2"/>
          <p:cNvSpPr txBox="1"/>
          <p:nvPr/>
        </p:nvSpPr>
        <p:spPr>
          <a:xfrm>
            <a:off x="857250" y="3257550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Vélos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Tout-Terrain</a:t>
            </a:r>
            <a:endParaRPr dirty="0"/>
          </a:p>
        </p:txBody>
      </p:sp>
      <p:sp>
        <p:nvSpPr>
          <p:cNvPr id="661" name="Google Shape;661;p42"/>
          <p:cNvSpPr txBox="1"/>
          <p:nvPr/>
        </p:nvSpPr>
        <p:spPr>
          <a:xfrm>
            <a:off x="857250" y="38195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 modèle **Mountain-200 Black** est le moteur financier absolu. Cette ultra-concentration prouve une hégémonie sur le segment performance.</a:t>
            </a:r>
            <a:endParaRPr/>
          </a:p>
        </p:txBody>
      </p:sp>
      <p:sp>
        <p:nvSpPr>
          <p:cNvPr id="662" name="Google Shape;662;p42"/>
          <p:cNvSpPr txBox="1"/>
          <p:nvPr/>
        </p:nvSpPr>
        <p:spPr>
          <a:xfrm>
            <a:off x="6524625" y="3257550"/>
            <a:ext cx="505063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Vélos de Route</a:t>
            </a:r>
            <a:endParaRPr/>
          </a:p>
        </p:txBody>
      </p:sp>
      <p:sp>
        <p:nvSpPr>
          <p:cNvPr id="663" name="Google Shape;663;p42"/>
          <p:cNvSpPr txBox="1"/>
          <p:nvPr/>
        </p:nvSpPr>
        <p:spPr>
          <a:xfrm>
            <a:off x="6524625" y="38195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Les séries **Road-250** et **Road-150** affichent des performances homogènes, offrant un relais de croissance stable face au segment VTT.</a:t>
            </a:r>
            <a:endParaRPr/>
          </a:p>
        </p:txBody>
      </p:sp>
      <p:pic>
        <p:nvPicPr>
          <p:cNvPr id="15" name="Google Shape;639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168961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640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2184916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643;p41"/>
          <p:cNvSpPr txBox="1"/>
          <p:nvPr/>
        </p:nvSpPr>
        <p:spPr>
          <a:xfrm>
            <a:off x="571500" y="1272660"/>
            <a:ext cx="176340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Mountain-200</a:t>
            </a:r>
            <a:endParaRPr sz="1600" dirty="0"/>
          </a:p>
        </p:txBody>
      </p:sp>
      <p:sp>
        <p:nvSpPr>
          <p:cNvPr id="18" name="Google Shape;644;p41"/>
          <p:cNvSpPr txBox="1"/>
          <p:nvPr/>
        </p:nvSpPr>
        <p:spPr>
          <a:xfrm>
            <a:off x="2192908" y="1164193"/>
            <a:ext cx="77588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gamme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qui assure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l'essentiel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rentabilité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9" name="Google Shape;645;p41"/>
          <p:cNvSpPr txBox="1"/>
          <p:nvPr/>
        </p:nvSpPr>
        <p:spPr>
          <a:xfrm>
            <a:off x="1000125" y="1641991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Hégémonie: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 références &gt; $1M chacune.</a:t>
            </a:r>
            <a:endParaRPr/>
          </a:p>
        </p:txBody>
      </p:sp>
      <p:sp>
        <p:nvSpPr>
          <p:cNvPr id="20" name="Google Shape;646;p41"/>
          <p:cNvSpPr txBox="1"/>
          <p:nvPr/>
        </p:nvSpPr>
        <p:spPr>
          <a:xfrm>
            <a:off x="1000125" y="2137291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Road Bikes: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Segment de route en croissance.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3"/>
          <p:cNvSpPr txBox="1"/>
          <p:nvPr/>
        </p:nvSpPr>
        <p:spPr>
          <a:xfrm>
            <a:off x="571500" y="6505575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Segmentation &amp; Fidélité</a:t>
            </a:r>
            <a:endParaRPr/>
          </a:p>
        </p:txBody>
      </p:sp>
      <p:sp>
        <p:nvSpPr>
          <p:cNvPr id="676" name="Google Shape;676;p43"/>
          <p:cNvSpPr txBox="1"/>
          <p:nvPr/>
        </p:nvSpPr>
        <p:spPr>
          <a:xfrm>
            <a:off x="571500" y="12844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 CLIENTÈLE</a:t>
            </a:r>
            <a:endParaRPr/>
          </a:p>
        </p:txBody>
      </p:sp>
      <p:sp>
        <p:nvSpPr>
          <p:cNvPr id="677" name="Google Shape;677;p43"/>
          <p:cNvSpPr/>
          <p:nvPr/>
        </p:nvSpPr>
        <p:spPr>
          <a:xfrm>
            <a:off x="381000" y="128440"/>
            <a:ext cx="76200" cy="493729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31" y="695831"/>
            <a:ext cx="9909188" cy="56192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4"/>
          <p:cNvSpPr txBox="1"/>
          <p:nvPr/>
        </p:nvSpPr>
        <p:spPr>
          <a:xfrm>
            <a:off x="571500" y="6505575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Insights CRM</a:t>
            </a:r>
            <a:endParaRPr/>
          </a:p>
        </p:txBody>
      </p:sp>
      <p:sp>
        <p:nvSpPr>
          <p:cNvPr id="691" name="Google Shape;691;p44"/>
          <p:cNvSpPr txBox="1"/>
          <p:nvPr/>
        </p:nvSpPr>
        <p:spPr>
          <a:xfrm>
            <a:off x="750094" y="391835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ANALYSE: DASHBOARD CLIENTÈLE</a:t>
            </a:r>
            <a:endParaRPr/>
          </a:p>
        </p:txBody>
      </p:sp>
      <p:sp>
        <p:nvSpPr>
          <p:cNvPr id="692" name="Google Shape;692;p44"/>
          <p:cNvSpPr/>
          <p:nvPr/>
        </p:nvSpPr>
        <p:spPr>
          <a:xfrm>
            <a:off x="559594" y="391835"/>
            <a:ext cx="76200" cy="49184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674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794" y="170564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675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794" y="2200944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678;p43"/>
          <p:cNvSpPr txBox="1"/>
          <p:nvPr/>
        </p:nvSpPr>
        <p:spPr>
          <a:xfrm>
            <a:off x="635794" y="1322025"/>
            <a:ext cx="46005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18K Customers</a:t>
            </a:r>
            <a:endParaRPr sz="1600" dirty="0"/>
          </a:p>
        </p:txBody>
      </p:sp>
      <p:sp>
        <p:nvSpPr>
          <p:cNvPr id="16" name="Google Shape;679;p43"/>
          <p:cNvSpPr txBox="1"/>
          <p:nvPr/>
        </p:nvSpPr>
        <p:spPr>
          <a:xfrm>
            <a:off x="2288431" y="1229394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Base client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engagée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avec un panier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moyen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élevé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($1,370).</a:t>
            </a:r>
            <a:endParaRPr dirty="0"/>
          </a:p>
        </p:txBody>
      </p:sp>
      <p:sp>
        <p:nvSpPr>
          <p:cNvPr id="17" name="Google Shape;680;p43"/>
          <p:cNvSpPr txBox="1"/>
          <p:nvPr/>
        </p:nvSpPr>
        <p:spPr>
          <a:xfrm>
            <a:off x="1064419" y="1658019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60+ Segment: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Cible senior dominante (11.2K).</a:t>
            </a:r>
            <a:endParaRPr/>
          </a:p>
        </p:txBody>
      </p:sp>
      <p:sp>
        <p:nvSpPr>
          <p:cNvPr id="18" name="Google Shape;681;p43"/>
          <p:cNvSpPr txBox="1"/>
          <p:nvPr/>
        </p:nvSpPr>
        <p:spPr>
          <a:xfrm>
            <a:off x="1064419" y="2153319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VIPs: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Clients générant &gt; $10K de CA.</a:t>
            </a:r>
            <a:endParaRPr/>
          </a:p>
        </p:txBody>
      </p:sp>
      <p:pic>
        <p:nvPicPr>
          <p:cNvPr id="19" name="Google Shape;653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170745"/>
            <a:ext cx="5029200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Google Shape;654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38875" y="3170745"/>
            <a:ext cx="5214692" cy="22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Google Shape;693;p44"/>
          <p:cNvSpPr txBox="1"/>
          <p:nvPr/>
        </p:nvSpPr>
        <p:spPr>
          <a:xfrm>
            <a:off x="688182" y="3355844"/>
            <a:ext cx="47880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Profil</a:t>
            </a:r>
            <a:r>
              <a:rPr lang="en-US" sz="1950" b="1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-Type de </a:t>
            </a: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l'Acheteur</a:t>
            </a:r>
            <a:endParaRPr sz="1950" b="1" dirty="0">
              <a:solidFill>
                <a:srgbClr val="005088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" name="Google Shape;694;p44"/>
          <p:cNvSpPr txBox="1"/>
          <p:nvPr/>
        </p:nvSpPr>
        <p:spPr>
          <a:xfrm>
            <a:off x="688182" y="3822569"/>
            <a:ext cx="45600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Actif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senior (50-60+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d'un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pouvoir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d'achat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moyen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à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supérieur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sensible à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qualité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technique.</a:t>
            </a:r>
            <a:endParaRPr dirty="0"/>
          </a:p>
        </p:txBody>
      </p:sp>
      <p:sp>
        <p:nvSpPr>
          <p:cNvPr id="23" name="Google Shape;695;p44"/>
          <p:cNvSpPr txBox="1"/>
          <p:nvPr/>
        </p:nvSpPr>
        <p:spPr>
          <a:xfrm>
            <a:off x="6450807" y="3355844"/>
            <a:ext cx="47880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950" b="1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Levier de </a:t>
            </a:r>
            <a:r>
              <a:rPr lang="en-US" sz="1950" b="1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Fidélisation</a:t>
            </a:r>
            <a:endParaRPr sz="1950" b="1" dirty="0">
              <a:solidFill>
                <a:srgbClr val="005088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4" name="Google Shape;696;p44"/>
          <p:cNvSpPr txBox="1"/>
          <p:nvPr/>
        </p:nvSpPr>
        <p:spPr>
          <a:xfrm>
            <a:off x="6462712" y="3822569"/>
            <a:ext cx="416377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Fréquence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d'achat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moyenne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**1.44**.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potentiel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énorme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croissance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via des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campagnes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"Repeat Business" (SAV,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Consommables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5"/>
          <p:cNvSpPr txBox="1"/>
          <p:nvPr/>
        </p:nvSpPr>
        <p:spPr>
          <a:xfrm>
            <a:off x="571500" y="6505575"/>
            <a:ext cx="885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Bilan du Projet</a:t>
            </a:r>
            <a:endParaRPr/>
          </a:p>
        </p:txBody>
      </p:sp>
      <p:pic>
        <p:nvPicPr>
          <p:cNvPr id="706" name="Google Shape;706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32" y="137488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32" y="187018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32" y="236548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32" y="286078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5"/>
          <p:cNvSpPr txBox="1"/>
          <p:nvPr/>
        </p:nvSpPr>
        <p:spPr>
          <a:xfrm>
            <a:off x="667732" y="342899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 FINALE</a:t>
            </a:r>
            <a:endParaRPr/>
          </a:p>
        </p:txBody>
      </p:sp>
      <p:sp>
        <p:nvSpPr>
          <p:cNvPr id="711" name="Google Shape;711;p45"/>
          <p:cNvSpPr/>
          <p:nvPr/>
        </p:nvSpPr>
        <p:spPr>
          <a:xfrm>
            <a:off x="477232" y="342899"/>
            <a:ext cx="76200" cy="438149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5"/>
          <p:cNvSpPr txBox="1"/>
          <p:nvPr/>
        </p:nvSpPr>
        <p:spPr>
          <a:xfrm>
            <a:off x="1096356" y="1286366"/>
            <a:ext cx="907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Infrastructure Robuste: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Architecture end-to-end unifiée et sanctuarisée sous MySQL.</a:t>
            </a:r>
            <a:endParaRPr/>
          </a:p>
        </p:txBody>
      </p:sp>
      <p:sp>
        <p:nvSpPr>
          <p:cNvPr id="713" name="Google Shape;713;p45"/>
          <p:cNvSpPr txBox="1"/>
          <p:nvPr/>
        </p:nvSpPr>
        <p:spPr>
          <a:xfrm>
            <a:off x="1096356" y="1781666"/>
            <a:ext cx="907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Ingénierie Code-First: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Pipeline Python flexible, rapide et prêt pour la CI/CD.</a:t>
            </a:r>
            <a:endParaRPr/>
          </a:p>
        </p:txBody>
      </p:sp>
      <p:sp>
        <p:nvSpPr>
          <p:cNvPr id="714" name="Google Shape;714;p45"/>
          <p:cNvSpPr txBox="1"/>
          <p:nvPr/>
        </p:nvSpPr>
        <p:spPr>
          <a:xfrm>
            <a:off x="1096356" y="2276966"/>
            <a:ext cx="907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Impact Décisionnel: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Dashboards Power BI offrant une vision 360° du business.</a:t>
            </a:r>
            <a:endParaRPr/>
          </a:p>
        </p:txBody>
      </p:sp>
      <p:sp>
        <p:nvSpPr>
          <p:cNvPr id="715" name="Google Shape;715;p45"/>
          <p:cNvSpPr txBox="1"/>
          <p:nvPr/>
        </p:nvSpPr>
        <p:spPr>
          <a:xfrm>
            <a:off x="1096356" y="2772266"/>
            <a:ext cx="907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Évolutivité: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Fondations prêtes pour l'intégration d'algorithmes de Machine Learning.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40080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6"/>
          <p:cNvSpPr txBox="1"/>
          <p:nvPr/>
        </p:nvSpPr>
        <p:spPr>
          <a:xfrm>
            <a:off x="571500" y="6505575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Fin de Présentation</a:t>
            </a:r>
            <a:endParaRPr/>
          </a:p>
        </p:txBody>
      </p:sp>
      <p:pic>
        <p:nvPicPr>
          <p:cNvPr id="725" name="Google Shape;725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6833" y="813982"/>
            <a:ext cx="2689916" cy="115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44610" y="805754"/>
            <a:ext cx="2552661" cy="115639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46"/>
          <p:cNvSpPr txBox="1"/>
          <p:nvPr/>
        </p:nvSpPr>
        <p:spPr>
          <a:xfrm>
            <a:off x="370689" y="248989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Merci pour </a:t>
            </a:r>
            <a:r>
              <a:rPr lang="en-US" sz="6000" b="1" i="0" u="none" strike="noStrike" cap="none" dirty="0" err="1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votre</a:t>
            </a:r>
            <a:r>
              <a:rPr lang="en-US" sz="60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attention !</a:t>
            </a:r>
            <a:endParaRPr dirty="0"/>
          </a:p>
        </p:txBody>
      </p:sp>
      <p:sp>
        <p:nvSpPr>
          <p:cNvPr id="729" name="Google Shape;729;p46"/>
          <p:cNvSpPr txBox="1"/>
          <p:nvPr/>
        </p:nvSpPr>
        <p:spPr>
          <a:xfrm>
            <a:off x="666518" y="599598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Département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Informatique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— FST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Tanger</a:t>
            </a:r>
            <a:endParaRPr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366" y="3752455"/>
            <a:ext cx="2357303" cy="2193527"/>
          </a:xfrm>
          <a:prstGeom prst="rect">
            <a:avLst/>
          </a:prstGeom>
        </p:spPr>
      </p:pic>
      <p:sp>
        <p:nvSpPr>
          <p:cNvPr id="13" name="Google Shape;728;p46"/>
          <p:cNvSpPr txBox="1"/>
          <p:nvPr/>
        </p:nvSpPr>
        <p:spPr>
          <a:xfrm>
            <a:off x="666517" y="383768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Questions &amp; </a:t>
            </a:r>
            <a:r>
              <a:rPr lang="en-US" sz="2400" b="0" i="0" u="none" strike="noStrike" cap="none" dirty="0" err="1">
                <a:solidFill>
                  <a:srgbClr val="11CAA0"/>
                </a:solidFill>
                <a:latin typeface="Lato"/>
                <a:ea typeface="Lato"/>
                <a:cs typeface="Lato"/>
                <a:sym typeface="Lato"/>
              </a:rPr>
              <a:t>Réponses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"/>
          <p:cNvSpPr txBox="1"/>
          <p:nvPr/>
        </p:nvSpPr>
        <p:spPr>
          <a:xfrm>
            <a:off x="571500" y="250989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 smtClean="0">
                <a:solidFill>
                  <a:srgbClr val="1E293B"/>
                </a:solidFill>
                <a:latin typeface="Poppins SemiBold"/>
                <a:cs typeface="Poppins SemiBold"/>
                <a:sym typeface="Poppins SemiBold"/>
              </a:rPr>
              <a:t>Reference </a:t>
            </a:r>
            <a:endParaRPr dirty="0"/>
          </a:p>
        </p:txBody>
      </p:sp>
      <p:sp>
        <p:nvSpPr>
          <p:cNvPr id="742" name="Google Shape;742;p47"/>
          <p:cNvSpPr/>
          <p:nvPr/>
        </p:nvSpPr>
        <p:spPr>
          <a:xfrm>
            <a:off x="381000" y="250990"/>
            <a:ext cx="76200" cy="475512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1500" y="726502"/>
            <a:ext cx="10657395" cy="590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fr-FR" sz="1800" b="1" dirty="0">
                <a:solidFill>
                  <a:srgbClr val="2E75B6"/>
                </a:solidFill>
                <a:latin typeface="Calibri" panose="020F0502020204030204" pitchFamily="34" charset="0"/>
              </a:rPr>
              <a:t>Ouvrages de Référence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Kimball, R. &amp; Ross, M. (2013).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The Data Warehouse Toolkit: The Definitive Guide to Dimensional Modeling.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3ᵉ édition.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Wiley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</a:rPr>
              <a:t>Inmon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, W.H. (2005).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Building the Data Warehouse.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4ᵉ édition.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Wiley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McKinney, W. (2022).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Python for Data Analysis: Data Wrangling with pandas,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</a:rPr>
              <a:t>NumPy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, and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</a:rPr>
              <a:t>Jupyter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3ᵉ édition.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O’Reilly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 Media.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fr-FR" sz="1800" b="1" dirty="0">
                <a:solidFill>
                  <a:srgbClr val="2E75B6"/>
                </a:solidFill>
                <a:latin typeface="Calibri" panose="020F0502020204030204" pitchFamily="34" charset="0"/>
              </a:rPr>
              <a:t>Documentation Technique Officielle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Pandas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Development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 Team. (2024).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</a:rPr>
              <a:t>pandas Documentation.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 https://pandas.pydata.org/docs/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SQLAlchemy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Authors. (2024).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</a:rPr>
              <a:t>SQLAlchemy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 2.0 Documentation.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https://docs.sqlalchemy.org/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Microsoft Corporation. (2024).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</a:rPr>
              <a:t>DAX Reference — Power BI Documentation.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 https://learn.microsoft.com/fr-fr/dax/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MySQL AB / Oracle Corporation. (2024).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MySQL 8.0 Reference Manual.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https://dev.mysql.com/doc/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fr-FR" sz="1800" b="1" dirty="0">
                <a:solidFill>
                  <a:srgbClr val="2E75B6"/>
                </a:solidFill>
                <a:latin typeface="Calibri" panose="020F0502020204030204" pitchFamily="34" charset="0"/>
              </a:rPr>
              <a:t>Articles et Ressources Spécialisées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Adamson, C. (2010).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Star Schema: The Complete Reference.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McGraw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-Hill Education.</a:t>
            </a: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Microsoft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AdventureWorks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Cycles. (2023).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</a:rPr>
              <a:t>AdventureWorks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 Sample Database.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Microsoft GitHub Repository.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Powell, B. (2022).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Mastering Microsoft Power BI.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Packt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</a:rPr>
              <a:t>Publishing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1663</Words>
  <Application>Microsoft Office PowerPoint</Application>
  <PresentationFormat>Grand écran</PresentationFormat>
  <Paragraphs>281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1" baseType="lpstr">
      <vt:lpstr>Arial</vt:lpstr>
      <vt:lpstr>Poppins SemiBold</vt:lpstr>
      <vt:lpstr>Poppins</vt:lpstr>
      <vt:lpstr>Lato</vt:lpstr>
      <vt:lpstr>Lato Light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Marwan benali</dc:creator>
  <cp:lastModifiedBy>Compte Microsoft</cp:lastModifiedBy>
  <cp:revision>11</cp:revision>
  <dcterms:modified xsi:type="dcterms:W3CDTF">2026-06-12T16:36:35Z</dcterms:modified>
</cp:coreProperties>
</file>